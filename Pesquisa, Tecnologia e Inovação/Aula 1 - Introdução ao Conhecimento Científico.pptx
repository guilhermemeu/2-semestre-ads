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7" r:id="rId24"/>
    <p:sldId id="288" r:id="rId25"/>
    <p:sldId id="283" r:id="rId26"/>
    <p:sldId id="278" r:id="rId27"/>
    <p:sldId id="279" r:id="rId28"/>
    <p:sldId id="290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2084D-E36D-46DC-8B85-8A3411565B66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F9EDA-379C-41DD-A9CC-796F0B1542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25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F9EDA-379C-41DD-A9CC-796F0B15429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605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62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06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4.png"/><Relationship Id="rId5" Type="http://schemas.openxmlformats.org/officeDocument/2006/relationships/image" Target="../media/image101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2230784"/>
            <a:ext cx="1181100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oppins"/>
              </a:rPr>
              <a:t>AULA 1 - Introdução ao Conhecimento Científico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522315"/>
            <a:ext cx="581977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38BDF8"/>
                </a:solidFill>
                <a:latin typeface="Inter Medium"/>
              </a:rPr>
              <a:t>Metodologia da Pesquisa Científica e Acadêmica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36702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4312890"/>
            <a:ext cx="24955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8FAFC"/>
                </a:solidFill>
                <a:latin typeface="Inter Medium"/>
              </a:rPr>
              <a:t>Prof. Me. Lucas P</a:t>
            </a:r>
            <a:r>
              <a:rPr lang="pt-BR" sz="1350" b="0" i="0" u="none" dirty="0">
                <a:solidFill>
                  <a:srgbClr val="F8FAFC"/>
                </a:solidFill>
                <a:latin typeface="Inter Medium"/>
              </a:rPr>
              <a:t>.</a:t>
            </a:r>
            <a:r>
              <a:rPr sz="1350" b="0" i="0" u="none" dirty="0">
                <a:solidFill>
                  <a:srgbClr val="F8FAFC"/>
                </a:solidFill>
                <a:latin typeface="Inter Medium"/>
              </a:rPr>
              <a:t> Porto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0325"/>
            <a:ext cx="11049000" cy="152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10075"/>
            <a:ext cx="5334000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410075"/>
            <a:ext cx="5334000" cy="1590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743075"/>
            <a:ext cx="1104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Antes de discutirmos a produção científica acadêmica, precisamos refletir sobre uma questão essencial do conhecimento humano: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0262" y="3145184"/>
            <a:ext cx="7991475" cy="434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sz="2850" b="1" i="0" u="none">
                <a:solidFill>
                  <a:srgbClr val="F0F9FF"/>
                </a:solidFill>
                <a:latin typeface="Poppins"/>
              </a:rPr>
              <a:t>“Como sabemos as coisas que sabemos?”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705350"/>
            <a:ext cx="4980622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Origem da Verdade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5105400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Como você valida uma informação no seu cotidiano para considerá-la autêntica?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705350"/>
            <a:ext cx="4980622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Critério de Causalidade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5105400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Qual é o fundamento que garante que algo é, de fato, uma verdade universal?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752975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4752975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 Ponto de Partida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2718"/>
            <a:ext cx="3530649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702718"/>
            <a:ext cx="3530649" cy="2847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702718"/>
            <a:ext cx="3530649" cy="2847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2450"/>
            <a:ext cx="2667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400" y="2193131"/>
            <a:ext cx="96012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Inter SemiBold"/>
              </a:rPr>
              <a:t>Se perguntarmos: </a:t>
            </a:r>
            <a:r>
              <a:rPr sz="1425" b="0" i="1" u="none">
                <a:solidFill>
                  <a:srgbClr val="334155"/>
                </a:solidFill>
                <a:latin typeface="Inter SemiBold"/>
              </a:rPr>
              <a:t>"Como você sabe que colocar a mão no fogo provoca queimadura?"</a:t>
            </a:r>
            <a:r>
              <a:rPr sz="1425" b="0" i="0" u="none">
                <a:solidFill>
                  <a:srgbClr val="334155"/>
                </a:solidFill>
                <a:latin typeface="Inter SemiBold"/>
              </a:rPr>
              <a:t>, as respostas variam: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978943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3740943"/>
            <a:ext cx="186023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Vivência Direta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88618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"Porque eu já fiz isso."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Baseado na experiência pessoal prévia e na percepção sensorial do dano térmico.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974" y="2978943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06974" y="3740943"/>
            <a:ext cx="267033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Transmissão Cultural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4188618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"Porque alguém me ensinou."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Baseado na autoridade, orientação familiar ou no aprendizado social acumulado.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224" y="2978943"/>
            <a:ext cx="6096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224" y="3740943"/>
            <a:ext cx="288036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Explicação Sistemática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224" y="4188618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"Porque a ciência explica."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Baseado na física da transferência de calor e na destruição celular da epiderme.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25" y="3112293"/>
            <a:ext cx="3048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7462" y="3112293"/>
            <a:ext cx="428625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624" y="3112293"/>
            <a:ext cx="3048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500" y="476250"/>
            <a:ext cx="112014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Exemplo Prático de Validação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216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62162"/>
            <a:ext cx="53340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062162"/>
            <a:ext cx="4991100" cy="469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Todas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são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formas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legítimas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de saber: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Todas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as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respostas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anteriores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constituem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diferentes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abordagens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conhecimento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humano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62275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A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rota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de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construção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varia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: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diferença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fundamental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está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na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forma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cada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resposta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foi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elaborada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justificada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9500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Definição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Geral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: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“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Conhecimento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é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toda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informação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que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uma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pessoa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considera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verdadeira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sobre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 o </a:t>
            </a:r>
            <a:r>
              <a:rPr sz="1275" b="1" i="1" u="none" dirty="0" err="1">
                <a:solidFill>
                  <a:srgbClr val="334155"/>
                </a:solidFill>
                <a:latin typeface="Inter"/>
              </a:rPr>
              <a:t>mundo</a:t>
            </a:r>
            <a:r>
              <a:rPr sz="1275" b="1" i="1" u="none" dirty="0">
                <a:solidFill>
                  <a:srgbClr val="334155"/>
                </a:solidFill>
                <a:latin typeface="Inter"/>
              </a:rPr>
              <a:t>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76725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Classificação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 por </a:t>
            </a:r>
            <a:r>
              <a:rPr sz="1275" b="1" i="0" u="none" dirty="0" err="1">
                <a:solidFill>
                  <a:srgbClr val="0F172A"/>
                </a:solidFill>
                <a:latin typeface="Inter SemiBold"/>
              </a:rPr>
              <a:t>Tipos</a:t>
            </a:r>
            <a:r>
              <a:rPr sz="1275" b="1" i="0" u="none" dirty="0">
                <a:solidFill>
                  <a:srgbClr val="0F172A"/>
                </a:solidFill>
                <a:latin typeface="Inter SemiBold"/>
              </a:rPr>
              <a:t>: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Nem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todo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conhecimento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é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construído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mesma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maneira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originando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matrizes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distintas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764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7656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33787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291012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700" y="476250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 Conceito de Conhecimento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1818"/>
            <a:ext cx="11049000" cy="1685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2286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40768"/>
            <a:ext cx="11049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Inter"/>
              </a:rPr>
              <a:t>O ser humano aprende e interpreta a realidade através de </a:t>
            </a:r>
            <a:r>
              <a:rPr sz="1425" b="1" i="0" u="none">
                <a:solidFill>
                  <a:srgbClr val="334155"/>
                </a:solidFill>
                <a:latin typeface="Inter"/>
              </a:rPr>
              <a:t>quatro matrizes classificatórias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fundamentais. Para entendê-las, utilizaremos um problema do dia a dia: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0287" y="5045868"/>
            <a:ext cx="75914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A forma como respondemos a este dilema revela qual matriz de conhecimento estamos aplicando.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3407568"/>
            <a:ext cx="10921365" cy="371475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369A1"/>
                </a:solidFill>
                <a:latin typeface="Poppins SemiBold"/>
              </a:rPr>
              <a:t>O Problema Prático: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893343"/>
            <a:ext cx="104013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SemiBold"/>
              </a:rPr>
              <a:t>“Você foi sair de manhã e seu carro não pegou. Diante disso, você se pergunta: Por que meu carro não liga hoje de manhã?”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3464718"/>
            <a:ext cx="3143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76250"/>
            <a:ext cx="1124140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Matrizes de Pensamento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48137"/>
            <a:ext cx="533400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2162"/>
            <a:ext cx="53340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062162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Também chamado de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popular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ou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senso comum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 Baseia-se na experiência do dia a dia, transmitido entre gerações sem comprovação formal.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338637"/>
            <a:ext cx="2381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2400E"/>
                </a:solidFill>
                <a:latin typeface="Inter"/>
              </a:rPr>
              <a:t>Aplicação no Exemplo do Carro: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576762"/>
            <a:ext cx="48291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78350F"/>
                </a:solidFill>
                <a:latin typeface="Inter"/>
              </a:rPr>
              <a:t>"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Deve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ser a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bateria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,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porque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da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última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vez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que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ficou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frio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assim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aconteceu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a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mesma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coisa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, e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faz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tempo que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não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8350F"/>
                </a:solidFill>
                <a:latin typeface="Inter"/>
              </a:rPr>
              <a:t>troco</a:t>
            </a:r>
            <a:r>
              <a:rPr lang="pt-BR" sz="1125" b="0" i="0" u="none" dirty="0">
                <a:solidFill>
                  <a:srgbClr val="78350F"/>
                </a:solidFill>
                <a:latin typeface="Inter"/>
              </a:rPr>
              <a:t> ela</a:t>
            </a:r>
            <a:r>
              <a:rPr sz="1125" b="0" i="0" u="none" dirty="0">
                <a:solidFill>
                  <a:srgbClr val="78350F"/>
                </a:solidFill>
                <a:latin typeface="Inter"/>
              </a:rPr>
              <a:t>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62162"/>
            <a:ext cx="5334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905125"/>
            <a:ext cx="4991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Observação cotidiana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 convivência familiar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462"/>
            <a:ext cx="4991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Tradição e repetição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cultural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3800"/>
            <a:ext cx="4991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Tentativa e erro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informal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19412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33750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748087"/>
            <a:ext cx="1905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800" y="476250"/>
            <a:ext cx="1108138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Conhecimento Empírico (Senso Comum)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33837"/>
            <a:ext cx="5334000" cy="1000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0750"/>
            <a:ext cx="5334000" cy="3362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419475"/>
            <a:ext cx="4829175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19075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Construído por meio do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pensamento racional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 reflexivo, sem a obrigatoriedade de experimentos de laboratório.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224337"/>
            <a:ext cx="16859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Aplicação no Exemplo: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443412"/>
            <a:ext cx="48291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66534"/>
                </a:solidFill>
                <a:latin typeface="Inter"/>
              </a:rPr>
              <a:t>"Até que ponto posso confiar nos meus próprios sentidos para entender realmente o porquê o carro não ligou?"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419350"/>
            <a:ext cx="5070633" cy="2857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Outro Exemplo Contemporâneo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819400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 SemiBold"/>
              </a:rPr>
              <a:t>"Questionar os impactos éticos, morais e sociais do avanço vertiginoso da Inteligência Artificial no trabalho."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90825"/>
            <a:ext cx="4991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Reflexão e argumentação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conceitual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5162"/>
            <a:ext cx="4991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Questionamento das verdades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tidas como óbvias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9500"/>
            <a:ext cx="4991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Busca por </a:t>
            </a:r>
            <a:r>
              <a:rPr sz="1275" b="0" i="0" u="none">
                <a:solidFill>
                  <a:srgbClr val="0F172A"/>
                </a:solidFill>
                <a:latin typeface="Inter SemiBold"/>
              </a:rPr>
              <a:t>causas e sentidos mais profundos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46697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419475"/>
            <a:ext cx="4829175" cy="1905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805112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219450"/>
            <a:ext cx="12382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633787"/>
            <a:ext cx="190500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Conhecimento Filosófico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05087"/>
            <a:ext cx="533400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05087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Fundamentado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na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fé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nas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verdades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reveladas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por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uma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crença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espiritual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autoridade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divina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75" y="2890837"/>
            <a:ext cx="4950618" cy="3143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7E22CE"/>
                </a:solidFill>
                <a:latin typeface="Poppins SemiBold"/>
              </a:rPr>
              <a:t>Aplicação no Exemplo do Carro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9875" y="3348037"/>
            <a:ext cx="4714875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pt-BR" sz="1500" i="1" dirty="0">
                <a:solidFill>
                  <a:srgbClr val="581C87"/>
                </a:solidFill>
                <a:latin typeface="Inter"/>
              </a:rPr>
              <a:t>“Isso que aconteceu com o carro e comigo deve ser por um motivo maior”</a:t>
            </a:r>
            <a:endParaRPr sz="1500" i="1" dirty="0">
              <a:solidFill>
                <a:srgbClr val="581C87"/>
              </a:solidFill>
              <a:latin typeface="Int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19875" y="4110037"/>
            <a:ext cx="4714875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9875" y="4310062"/>
            <a:ext cx="4714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 err="1">
                <a:solidFill>
                  <a:srgbClr val="6B21A8"/>
                </a:solidFill>
                <a:latin typeface="Inter"/>
              </a:rPr>
              <a:t>Característica</a:t>
            </a:r>
            <a:r>
              <a:rPr sz="1125" b="1" i="0" u="none" dirty="0">
                <a:solidFill>
                  <a:srgbClr val="6B21A8"/>
                </a:solidFill>
                <a:latin typeface="Inter"/>
              </a:rPr>
              <a:t> Central: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Apoia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-se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na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crença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sagrada para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atribuir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significado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aos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acontecimentos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 da </a:t>
            </a:r>
            <a:r>
              <a:rPr sz="1125" b="0" i="0" u="none" dirty="0" err="1">
                <a:solidFill>
                  <a:srgbClr val="6B21A8"/>
                </a:solidFill>
                <a:latin typeface="Inter"/>
              </a:rPr>
              <a:t>existência</a:t>
            </a:r>
            <a:r>
              <a:rPr sz="1125" b="0" i="0" u="none" dirty="0">
                <a:solidFill>
                  <a:srgbClr val="6B21A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5162"/>
            <a:ext cx="49911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pt-BR" sz="1275" dirty="0">
                <a:solidFill>
                  <a:srgbClr val="0F172A"/>
                </a:solidFill>
                <a:latin typeface="Inter SemiBold"/>
              </a:rPr>
              <a:t>Revelação</a:t>
            </a:r>
            <a:r>
              <a:rPr lang="pt-BR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9500"/>
            <a:ext cx="49911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912"/>
              </a:lnSpc>
              <a:defRPr sz="1275" b="0" i="0" u="none">
                <a:solidFill>
                  <a:srgbClr val="0F172A"/>
                </a:solidFill>
                <a:latin typeface="Inter SemiBold"/>
              </a:defRPr>
            </a:lvl1pPr>
          </a:lstStyle>
          <a:p>
            <a:r>
              <a:rPr lang="pt-BR" dirty="0"/>
              <a:t>Tradição religiosa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4033837"/>
            <a:ext cx="4991100" cy="469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pt-BR" sz="1275" b="0" i="0" u="none" dirty="0">
                <a:solidFill>
                  <a:srgbClr val="0F172A"/>
                </a:solidFill>
                <a:latin typeface="Inter SemiBold"/>
              </a:rPr>
              <a:t>D</a:t>
            </a:r>
            <a:r>
              <a:rPr lang="pt-BR" sz="1275" dirty="0">
                <a:solidFill>
                  <a:srgbClr val="0F172A"/>
                </a:solidFill>
                <a:latin typeface="Inter SemiBold"/>
              </a:rPr>
              <a:t>outrinas e textos sagrados.</a:t>
            </a:r>
          </a:p>
          <a:p>
            <a:pPr algn="l">
              <a:lnSpc>
                <a:spcPts val="1912"/>
              </a:lnSpc>
            </a:pPr>
            <a:endParaRPr sz="1275" b="0" i="0" u="none" dirty="0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2938462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19450"/>
            <a:ext cx="21907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33787"/>
            <a:ext cx="23812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48125"/>
            <a:ext cx="190500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800" y="476250"/>
            <a:ext cx="1108138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Conhecimento Teológico (Religioso)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76687"/>
            <a:ext cx="5334000" cy="1376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2162"/>
            <a:ext cx="53340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062162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Distingue-se de outras formas pela busca constante por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validação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,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rigor metódico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capacidade explicativa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67187"/>
            <a:ext cx="3038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Inter"/>
              </a:rPr>
              <a:t>Exemplo Prático (O Mecânico Científico):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405312"/>
            <a:ext cx="48291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3A8A"/>
                </a:solidFill>
                <a:latin typeface="Inter"/>
              </a:rPr>
              <a:t>"Um mecânico usa um multímetro para medir a voltagem da bateria, testa o alternador, verifica a fiação — e só após testar e isolar cada hipótese, conclui a causa real do problema."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62162"/>
            <a:ext cx="5334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6622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Tecnologia e Inovação: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 ciência fornece as bases para criar soluções robustas, escaláveis e reprodutíveis.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4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Não atua isolada na teoria, mas resolve problemas complexos da sociedade.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765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33750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Conhecimento Científico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8887"/>
            <a:ext cx="11049000" cy="1352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91062"/>
            <a:ext cx="1547812" cy="523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737" y="4691062"/>
            <a:ext cx="1547812" cy="523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4691062"/>
            <a:ext cx="1547812" cy="523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212" y="4691062"/>
            <a:ext cx="1547812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2450" y="4691062"/>
            <a:ext cx="1547812" cy="523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2687" y="4691062"/>
            <a:ext cx="1547812" cy="523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214812"/>
            <a:ext cx="35704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Poppins SemiBold"/>
              </a:rPr>
              <a:t>O Fluxo da Investigação Científica: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767012"/>
            <a:ext cx="110513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369A1"/>
                </a:solidFill>
                <a:latin typeface="Poppins SemiBold"/>
              </a:rPr>
              <a:t>Conceito-Chave: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128962"/>
            <a:ext cx="10525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0F172A"/>
                </a:solidFill>
                <a:latin typeface="Inter"/>
              </a:rPr>
              <a:t>“Conhecimento científico é a informação processada, testada e validada por meio de métodos rigorosos, visando explicar fenômenos, prever comportamentos ou criar novas tecnologias.”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3612" y="4857750"/>
            <a:ext cx="1238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850" y="4857750"/>
            <a:ext cx="1238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4087" y="4857750"/>
            <a:ext cx="12382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4325" y="4857750"/>
            <a:ext cx="1238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4562" y="4857750"/>
            <a:ext cx="1238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700" y="476250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Conceito-Chave &amp; Cadeia Científica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76500"/>
          <a:ext cx="11048999" cy="2790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16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Tipo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Como surge?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Exemplo Prático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Empírico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Experiência cotidiana e senso comum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"Essa planta ajuda na digestão porque sempre a usamos em casa."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Filosófico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Reflexão racional e argumentação crítica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"O que significa, essencialmente, ter uma vida boa e ética?"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Teológico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Fé e tradição das doutrinas religiosas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"A existência humana e o universo possuem um propósito divino."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Científico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Investigação metódica e sistemática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"Experimentos controlados indicam que esta substância produz tal efeito."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033712"/>
            <a:ext cx="1188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60190" y="3033712"/>
            <a:ext cx="3614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74927" y="3033712"/>
            <a:ext cx="6245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590925"/>
            <a:ext cx="1188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60190" y="3590925"/>
            <a:ext cx="3614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74927" y="3590925"/>
            <a:ext cx="6245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148137"/>
            <a:ext cx="1188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60190" y="4148137"/>
            <a:ext cx="3614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74927" y="4148137"/>
            <a:ext cx="6245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705350"/>
            <a:ext cx="1188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60190" y="4705350"/>
            <a:ext cx="3614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74927" y="4705350"/>
            <a:ext cx="6245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Os Quatro Tipos de Conhecimento - Resumo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14476"/>
            <a:ext cx="5334000" cy="48056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14475"/>
            <a:ext cx="5334000" cy="5103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34155"/>
                </a:solidFill>
                <a:latin typeface="Inter"/>
              </a:rPr>
              <a:t>Conhecimento Empírico (Popular): 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É o uso diário que você e milhões de pessoas fazem da ferramenta. Você percebe na prática que ela acelera o trabalho, ajuda a estudar ou escreve e-mails em segundos. É o aprendizado por tentativa e erro.</a:t>
            </a: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34155"/>
              </a:solidFill>
              <a:latin typeface="Inter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34155"/>
                </a:solidFill>
                <a:latin typeface="Inter"/>
              </a:rPr>
              <a:t>Conhecimento Científico: 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É a engenharia de dados e a neurociência por trás da ferramenta. Cientistas explicam os modelos matemáticos, as redes neuronais artificiais, o processamento de linguagem natural e o consumo de energia dos servidores.</a:t>
            </a: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34155"/>
              </a:solidFill>
              <a:latin typeface="Inter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34155"/>
                </a:solidFill>
                <a:latin typeface="Inter"/>
              </a:rPr>
              <a:t>Conhecimento Filosófico: 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É a reflexão crítica sobre o futuro da humanidade. Os filósofos debatem se as máquinas podem ter consciência, os limites da propriedade intelectual, o fim de certas profissões e se estamos a perder a capacidade de pensar por nós mesmos.</a:t>
            </a: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34155"/>
              </a:solidFill>
              <a:latin typeface="Inter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34155"/>
                </a:solidFill>
                <a:latin typeface="Inter"/>
              </a:rPr>
              <a:t>Conhecimento Religioso (Teológico): 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É a discussão sobre a essência da criação e da alma. As religiões avaliam os limites éticos de simular a consciência humana e abordam o impacto espiritual do isolamento social causado pela substituição de interações humanas por robôs.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8937" y="1754982"/>
            <a:ext cx="4950618" cy="253916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r>
              <a:rPr lang="pt-BR" sz="1650" b="1" dirty="0">
                <a:solidFill>
                  <a:srgbClr val="7E22CE"/>
                </a:solidFill>
                <a:latin typeface="Poppins SemiBold"/>
              </a:rPr>
              <a:t>Como misturar tudo para validar a IA</a:t>
            </a:r>
            <a:endParaRPr sz="1650" b="1" dirty="0">
              <a:solidFill>
                <a:srgbClr val="7E22CE"/>
              </a:solidFill>
              <a:latin typeface="Poppins SemiBold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1754982"/>
            <a:ext cx="2381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800" y="349806"/>
            <a:ext cx="11081385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BR" sz="2400" b="1" dirty="0">
                <a:solidFill>
                  <a:srgbClr val="0F172A"/>
                </a:solidFill>
                <a:latin typeface="Poppins"/>
              </a:rPr>
              <a:t>Os Quatro Conhecimentos e a Inteligência Artificial</a:t>
            </a:r>
          </a:p>
          <a:p>
            <a:pPr algn="l"/>
            <a:endParaRPr sz="2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425ECA8-EEB7-4D1E-AE6D-656C9EEFA585}"/>
              </a:ext>
            </a:extLst>
          </p:cNvPr>
          <p:cNvSpPr txBox="1"/>
          <p:nvPr/>
        </p:nvSpPr>
        <p:spPr>
          <a:xfrm>
            <a:off x="6405563" y="2528442"/>
            <a:ext cx="51687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7E22CE"/>
                </a:solidFill>
                <a:latin typeface="Poppins SemiBold"/>
              </a:rPr>
              <a:t>Para entender o impacto prático: O conhecimento empírico valida a utilidade real da IA no seu dia a dia.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7E22CE"/>
              </a:solidFill>
              <a:latin typeface="Poppins SemiBold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7E22CE"/>
                </a:solidFill>
                <a:latin typeface="Poppins SemiBold"/>
              </a:rPr>
              <a:t>Para validar a segurança e eficácia: O conhecimento científico comprova se o algoritmo é fiável, exato e livre de falhas técnicas.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7E22CE"/>
              </a:solidFill>
              <a:latin typeface="Poppins SemiBold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7E22CE"/>
                </a:solidFill>
                <a:latin typeface="Poppins SemiBold"/>
              </a:rPr>
              <a:t>Para guiar as leis e decisões: O conhecimento filosófico define as regras éticas e os direitos humanos para evitar que a IA cause desemprego em massa ou injustiças.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7E22CE"/>
              </a:solidFill>
              <a:latin typeface="Poppins SemiBold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7E22CE"/>
                </a:solidFill>
                <a:latin typeface="Poppins SemiBold"/>
              </a:rPr>
              <a:t>Para proteger os valores: O conhecimento teológico e moral ajuda as comunidades a manterem o foco na empatia e na dignidade humana perante o avanço tecnológico.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0136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4143"/>
            <a:ext cx="5429250" cy="138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674143"/>
            <a:ext cx="5429250" cy="138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45768"/>
            <a:ext cx="5429250" cy="1381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4245768"/>
            <a:ext cx="5429250" cy="1381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137" y="2116931"/>
            <a:ext cx="99917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Inter"/>
              </a:rPr>
              <a:t>Na prática acadêmica e tecnológica, as pesquisas são estruturadas sob </a:t>
            </a:r>
            <a:r>
              <a:rPr sz="1425" b="1" i="0" u="none">
                <a:solidFill>
                  <a:srgbClr val="334155"/>
                </a:solidFill>
                <a:latin typeface="Inter"/>
              </a:rPr>
              <a:t>quatro critérios principais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de classificação: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64643"/>
            <a:ext cx="5170646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a) Quanto à Natureza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64693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Define se a meta é 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expansão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teórica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pura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aplicação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direta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para resolver um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problema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imediato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2864643"/>
            <a:ext cx="5170646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b) Quanto aos Objetivos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264693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Grau de aprofundamento do tema: explorar assunto novo, descrever características ou explicar causas.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436268"/>
            <a:ext cx="5170646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c) Quanto à Abordagem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836318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Forma de tratamento dos dados obtidos: mensuração quantitativa, análise qualitativa ou mista.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436268"/>
            <a:ext cx="5170646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Poppins SemiBold"/>
              </a:rPr>
              <a:t>d) Quanto aos Procedimentos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836318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Estratégia prática de coleta de dados: bibliográfica, experimental, estudo de caso, campo, etc.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912268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912268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4483893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4483893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700" y="476250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Classificação da Pesquisa Científica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9368"/>
            <a:ext cx="5334000" cy="2605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69368"/>
            <a:ext cx="5334000" cy="2605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864643"/>
            <a:ext cx="4980622" cy="3333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Pesquisa Básica (Pura)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312318"/>
            <a:ext cx="47434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Objetivo: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Gerar novos conhecimentos e teorias para o avanço da ciência, sem aplicação prática prevista ou imediata.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775" y="4183856"/>
            <a:ext cx="4743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775" y="4336256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Exemplo: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Estudo das propriedades físicas dos materiais em nível quântico.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864643"/>
            <a:ext cx="4980622" cy="3333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Pesquisa Aplicada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312318"/>
            <a:ext cx="47434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Objetivo: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Gerar conhecimentos dirigidos à solução de problemas específicos, práticos e imediatos na sociedade ou indústria.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1775" y="4183856"/>
            <a:ext cx="4743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1775" y="4336256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Exemplo: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Desenvolvimento de um novo algoritmo de compressão para reduzir tráfego em rede móvel.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12268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912268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Classificação Quanto à Natureza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3530649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47925"/>
            <a:ext cx="3530649" cy="2847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47925"/>
            <a:ext cx="3530649" cy="2847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724150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486150"/>
            <a:ext cx="15001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Exploratória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933825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Proporciona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maior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familiaridade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com um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tema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pouco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conhecido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Envolve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levantamento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bibliográfico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entrevistas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abertas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974" y="27241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6974" y="3486150"/>
            <a:ext cx="122015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Descritiva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933825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Descreve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as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características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determinada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população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fenômeno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Utiliza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questionários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padronizados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tabelas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de dados.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224" y="2724150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224" y="3486150"/>
            <a:ext cx="135016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Explicativa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3933825"/>
            <a:ext cx="2978199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Visa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identificar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fatores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que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determinam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contribuem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para 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ocorrência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dos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fenômenos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(o "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porquê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" das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coisas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285750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0324" y="2857500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574" y="2857500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Classificação Quanto aos Objetivos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0306"/>
            <a:ext cx="5334000" cy="1881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50306"/>
            <a:ext cx="5334000" cy="1881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21993"/>
            <a:ext cx="11049000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5837" y="4712493"/>
            <a:ext cx="3457575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5803D"/>
                </a:solidFill>
                <a:latin typeface="Inter"/>
              </a:rPr>
              <a:t>Abordagem Mista (Quali-Quantitativa):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1037" y="4722018"/>
            <a:ext cx="6762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66534"/>
                </a:solidFill>
                <a:latin typeface="Inter"/>
              </a:rPr>
              <a:t>Combina a mensuração estatística com a interpretação profunda do contexto em uma mesma investigação.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745581"/>
            <a:ext cx="4980622" cy="3333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Quantitativa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193256"/>
            <a:ext cx="47434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Traduz opiniões e dados em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números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para classificá-los e analisá-los estatisticamente. Requer uso de instrumental de estatística e amostragem.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745581"/>
            <a:ext cx="4980622" cy="33337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Qualitativa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93256"/>
            <a:ext cx="47434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Considera a existência de uma relação dinâmica entre o mundo real e o sujeito. É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descritiva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, com foco nos significados, percepções e contextos.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37" y="4731543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793206"/>
            <a:ext cx="1714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793206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700" y="476250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Classificação Quanto à Abordagem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5537"/>
            <a:ext cx="5429250" cy="138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395537"/>
            <a:ext cx="5429250" cy="138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7162"/>
            <a:ext cx="5429250" cy="1381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967162"/>
            <a:ext cx="5429250" cy="1381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586037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Bibliográfica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86087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Elaborada a partir de material já publicado (livros, artigos científicos, anais de congressos).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2586037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Documental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2986087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Utiliza fontes primárias sem tratamento analítico prévio (relatórios oficiais, contratos, e-mails, fotos).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157662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Experimental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557712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Seleciona variáveis de estudo e cria condições controladas para observar os efeitos no objeto.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4157662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Estudo de Caso / Campo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557712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Investigação profunda de um ou poucos objetos no seu contexto real cotidiano.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Procedimentos Técnicos Principais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64706"/>
            <a:ext cx="11049000" cy="152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7336" y="2023081"/>
            <a:ext cx="9077325" cy="552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2400" b="1" i="0" u="none" dirty="0" err="1">
                <a:solidFill>
                  <a:srgbClr val="334155"/>
                </a:solidFill>
                <a:latin typeface="Inter"/>
              </a:rPr>
              <a:t>Importante</a:t>
            </a:r>
            <a:r>
              <a:rPr sz="24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Uma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única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pesquisa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científica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se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enquadra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simutaneamente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nos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quatro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eixos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Inter"/>
              </a:rPr>
              <a:t>classificatórios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0962" y="3669506"/>
            <a:ext cx="44100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284C7"/>
                </a:solidFill>
                <a:latin typeface="Inter"/>
              </a:rPr>
              <a:t>Exemplo Integrado de Projeto Tecnológico: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5237" y="4060031"/>
            <a:ext cx="2219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0F172A"/>
                </a:solidFill>
                <a:latin typeface="Inter"/>
              </a:rPr>
              <a:t>Natureza: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Aplicada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7437" y="4060031"/>
            <a:ext cx="2219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0F172A"/>
                </a:solidFill>
                <a:latin typeface="Inter"/>
              </a:rPr>
              <a:t>Objetivo: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Explicativa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5237" y="4393406"/>
            <a:ext cx="2219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0F172A"/>
                </a:solidFill>
                <a:latin typeface="Inter"/>
              </a:rPr>
              <a:t>Abordagem: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Quantitativa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7437" y="4393406"/>
            <a:ext cx="2219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0F172A"/>
                </a:solidFill>
                <a:latin typeface="Inter"/>
              </a:rPr>
              <a:t>Procedimento: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Experimental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476250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Multidimensionalidade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da </a:t>
            </a:r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Pesquisa</a:t>
            </a:r>
            <a:endParaRPr sz="2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5253"/>
            <a:ext cx="11049000" cy="1123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76512"/>
            <a:ext cx="3530649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49" y="2576512"/>
            <a:ext cx="3530649" cy="2362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99" y="2576512"/>
            <a:ext cx="3530649" cy="2362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2450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1442196"/>
            <a:ext cx="1107138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0F172A"/>
                </a:solidFill>
                <a:latin typeface="Poppins SemiBold"/>
              </a:rPr>
              <a:t>Tema</a:t>
            </a:r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: "</a:t>
            </a:r>
            <a:r>
              <a:rPr sz="1500" b="0" i="0" u="none" dirty="0" err="1">
                <a:solidFill>
                  <a:srgbClr val="0F172A"/>
                </a:solidFill>
                <a:latin typeface="Poppins SemiBold"/>
              </a:rPr>
              <a:t>Desenvolvimento</a:t>
            </a:r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 de um </a:t>
            </a:r>
            <a:r>
              <a:rPr sz="1500" b="0" i="0" u="none" dirty="0" err="1">
                <a:solidFill>
                  <a:srgbClr val="0F172A"/>
                </a:solidFill>
                <a:latin typeface="Poppins SemiBold"/>
              </a:rPr>
              <a:t>Algoritmo</a:t>
            </a:r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 de Cache para </a:t>
            </a:r>
            <a:r>
              <a:rPr sz="1500" b="0" i="0" u="none" dirty="0" err="1">
                <a:solidFill>
                  <a:srgbClr val="0F172A"/>
                </a:solidFill>
                <a:latin typeface="Poppins SemiBold"/>
              </a:rPr>
              <a:t>Bancos</a:t>
            </a:r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 de Dados"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842246"/>
            <a:ext cx="10544175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Inter"/>
              </a:rPr>
              <a:t>Como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esse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projeto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se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classifica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tecnicamente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nos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4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eixos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pesquisa</a:t>
            </a:r>
            <a:r>
              <a:rPr lang="pt-BR" sz="1200" b="0" i="0" u="none" dirty="0">
                <a:solidFill>
                  <a:srgbClr val="334155"/>
                </a:solidFill>
                <a:latin typeface="Inter"/>
              </a:rPr>
              <a:t> (exploratório, aplicado, experimental e quantitativo)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852737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7725" y="3614737"/>
            <a:ext cx="113014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062412"/>
            <a:ext cx="297819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Busca resolver o problema imediato de latência na busca de dados.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6974" y="2852737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6974" y="3614737"/>
            <a:ext cx="162020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Experimental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4062412"/>
            <a:ext cx="297819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Mede o tempo de resposta em testes de estresse em servidor controlado.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224" y="2852737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6224" y="3614737"/>
            <a:ext cx="15801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Quantitativa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62412"/>
            <a:ext cx="297819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Avalia métricas exatas: milissegundos (ms) e uso de memória (MB).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212" y="2986087"/>
            <a:ext cx="428625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0324" y="2986087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9574" y="2986087"/>
            <a:ext cx="342900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800" y="476250"/>
            <a:ext cx="1108138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Exemplo: Algoritmo de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" descr="image.png">
            <a:extLst>
              <a:ext uri="{FF2B5EF4-FFF2-40B4-BE49-F238E27FC236}">
                <a16:creationId xmlns:a16="http://schemas.microsoft.com/office/drawing/2014/main" id="{B9AD4373-C243-41DB-87DB-817320505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84415"/>
            <a:ext cx="11049000" cy="1123950"/>
          </a:xfrm>
          <a:prstGeom prst="rect">
            <a:avLst/>
          </a:prstGeom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6C99B807-E11D-4580-B843-EA7BB805E431}"/>
              </a:ext>
            </a:extLst>
          </p:cNvPr>
          <p:cNvSpPr txBox="1"/>
          <p:nvPr/>
        </p:nvSpPr>
        <p:spPr>
          <a:xfrm>
            <a:off x="762001" y="5441295"/>
            <a:ext cx="106299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500" b="1" dirty="0">
                <a:solidFill>
                  <a:srgbClr val="0F172A"/>
                </a:solidFill>
                <a:latin typeface="Poppins SemiBold"/>
              </a:rPr>
              <a:t>Juntando tudo: </a:t>
            </a:r>
            <a:r>
              <a:rPr lang="pt-BR" sz="1500" dirty="0">
                <a:solidFill>
                  <a:srgbClr val="0F172A"/>
                </a:solidFill>
                <a:latin typeface="Poppins SemiBold"/>
              </a:rPr>
              <a:t>a equipe testa (experimental), mede em números (quantitativa) um fenômeno ainda pouco estudado (exploratória), e ao final descobre, por exemplo, que "o novo algoritmo reduziu o tempo médio de resposta em 23%, mas ainda não se sabe se esse ganho se mantém sob picos extremos de tráfego" — daí a natureza exploratória: abre espaço pra pesquisas futuras mais aprofundadas.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93206"/>
            <a:ext cx="5334000" cy="2157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2286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793206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método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científico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é o conjunto de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procedimentos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lógicos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sistemáticos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que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garantem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confiabilidade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reprodutibilidade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conhecimento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75" y="3078956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A Essência Metodológica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9875" y="3536156"/>
            <a:ext cx="4714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Sem método rigoroso, qualquer descoberta tecnológica não passa de especulação empírica não validada.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36168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Proteção contra vieses: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Impede que preferências pessoais distorçam o resultado.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3393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Reprodutibilidade: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Permite que outros pesquisadores façam o mesmo teste e obtenham o mesmo resultado.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5045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07681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476250"/>
            <a:ext cx="1124140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 que é o Método Científico?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0433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7968" y="4300537"/>
            <a:ext cx="26683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oppins SemiBold"/>
              </a:rPr>
              <a:t>1. Observação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141" y="4582645"/>
            <a:ext cx="1606924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Identificação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uma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falha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fenômeno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0806" y="4310962"/>
            <a:ext cx="179346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50" dirty="0">
                <a:solidFill>
                  <a:srgbClr val="0284C7"/>
                </a:solidFill>
                <a:latin typeface="Poppins SemiBold"/>
              </a:rPr>
              <a:t>3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. </a:t>
            </a:r>
            <a:r>
              <a:rPr sz="1350" b="0" i="0" u="none" dirty="0" err="1">
                <a:solidFill>
                  <a:srgbClr val="0284C7"/>
                </a:solidFill>
                <a:latin typeface="Poppins SemiBold"/>
              </a:rPr>
              <a:t>Hipótese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4337" y="4625287"/>
            <a:ext cx="1708065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Proposta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solução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provisória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testável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9808" y="4300537"/>
            <a:ext cx="266830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50" dirty="0">
                <a:solidFill>
                  <a:srgbClr val="0284C7"/>
                </a:solidFill>
                <a:latin typeface="Poppins SemiBold"/>
              </a:rPr>
              <a:t>5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. </a:t>
            </a:r>
            <a:r>
              <a:rPr lang="pt-BR" sz="1350" b="0" i="0" u="none" dirty="0">
                <a:solidFill>
                  <a:srgbClr val="0284C7"/>
                </a:solidFill>
                <a:latin typeface="Poppins SemiBold"/>
              </a:rPr>
              <a:t>Análise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43339" y="4614862"/>
            <a:ext cx="254124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pt-BR" sz="1050" b="0" i="0" u="none" dirty="0">
                <a:solidFill>
                  <a:srgbClr val="334155"/>
                </a:solidFill>
                <a:latin typeface="Inter"/>
              </a:rPr>
              <a:t>Verificação dos dados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0064" y="3176587"/>
            <a:ext cx="266830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50" b="0" i="0" u="none" dirty="0">
                <a:solidFill>
                  <a:srgbClr val="0284C7"/>
                </a:solidFill>
                <a:latin typeface="Poppins SemiBold"/>
              </a:rPr>
              <a:t>6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. </a:t>
            </a:r>
            <a:r>
              <a:rPr sz="1350" b="0" i="0" u="none" dirty="0" err="1">
                <a:solidFill>
                  <a:srgbClr val="0284C7"/>
                </a:solidFill>
                <a:latin typeface="Poppins SemiBold"/>
              </a:rPr>
              <a:t>Conclusão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3595" y="3490912"/>
            <a:ext cx="254124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Análise dos dados e publicação final.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46870" y="39671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92290" y="3958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18709" y="39671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48965" y="394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0600" y="476250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Passos do Método Científico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4A45C0D-B754-48B5-9CB5-6516A5E899D8}"/>
              </a:ext>
            </a:extLst>
          </p:cNvPr>
          <p:cNvSpPr txBox="1"/>
          <p:nvPr/>
        </p:nvSpPr>
        <p:spPr>
          <a:xfrm>
            <a:off x="1220663" y="2941135"/>
            <a:ext cx="266830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2. </a:t>
            </a:r>
            <a:r>
              <a:rPr lang="pt-BR" sz="1350" b="0" i="0" u="none" dirty="0">
                <a:solidFill>
                  <a:srgbClr val="0284C7"/>
                </a:solidFill>
                <a:latin typeface="Poppins SemiBold"/>
              </a:rPr>
              <a:t>Pergunta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72C4BFB9-A37A-4C5D-BA60-B72A820B54EF}"/>
              </a:ext>
            </a:extLst>
          </p:cNvPr>
          <p:cNvSpPr txBox="1"/>
          <p:nvPr/>
        </p:nvSpPr>
        <p:spPr>
          <a:xfrm>
            <a:off x="1837790" y="3284961"/>
            <a:ext cx="1488193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pt-BR" sz="1050" dirty="0">
                <a:solidFill>
                  <a:srgbClr val="334155"/>
                </a:solidFill>
                <a:latin typeface="Inter"/>
              </a:rPr>
              <a:t>Formular uma questão clara</a:t>
            </a:r>
            <a:r>
              <a:rPr sz="105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1" name="Rounded Rectangle 13">
            <a:extLst>
              <a:ext uri="{FF2B5EF4-FFF2-40B4-BE49-F238E27FC236}">
                <a16:creationId xmlns:a16="http://schemas.microsoft.com/office/drawing/2014/main" id="{DAF962FA-ED3A-46E3-A053-273DE25A3836}"/>
              </a:ext>
            </a:extLst>
          </p:cNvPr>
          <p:cNvSpPr/>
          <p:nvPr/>
        </p:nvSpPr>
        <p:spPr>
          <a:xfrm>
            <a:off x="2459565" y="39671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19447D45-CF08-4BF4-8727-75261D6CD1D8}"/>
              </a:ext>
            </a:extLst>
          </p:cNvPr>
          <p:cNvSpPr txBox="1"/>
          <p:nvPr/>
        </p:nvSpPr>
        <p:spPr>
          <a:xfrm>
            <a:off x="4038462" y="2935703"/>
            <a:ext cx="266830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50" dirty="0">
                <a:solidFill>
                  <a:srgbClr val="0284C7"/>
                </a:solidFill>
                <a:latin typeface="Poppins SemiBold"/>
              </a:rPr>
              <a:t>4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. </a:t>
            </a:r>
            <a:r>
              <a:rPr lang="pt-BR" sz="1350" b="0" i="0" u="none" dirty="0">
                <a:solidFill>
                  <a:srgbClr val="0284C7"/>
                </a:solidFill>
                <a:latin typeface="Poppins SemiBold"/>
              </a:rPr>
              <a:t>Teste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662139E2-231E-41A2-B33D-A63093BA9B97}"/>
              </a:ext>
            </a:extLst>
          </p:cNvPr>
          <p:cNvSpPr txBox="1"/>
          <p:nvPr/>
        </p:nvSpPr>
        <p:spPr>
          <a:xfrm>
            <a:off x="4655589" y="3279529"/>
            <a:ext cx="1488193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pt-BR" sz="1050" dirty="0">
                <a:solidFill>
                  <a:srgbClr val="334155"/>
                </a:solidFill>
                <a:latin typeface="Inter"/>
              </a:rPr>
              <a:t>Formular uma questão clara</a:t>
            </a:r>
            <a:r>
              <a:rPr sz="105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63F484F7-1B93-4986-94CA-D90BFAB04FF4}"/>
              </a:ext>
            </a:extLst>
          </p:cNvPr>
          <p:cNvSpPr/>
          <p:nvPr/>
        </p:nvSpPr>
        <p:spPr>
          <a:xfrm>
            <a:off x="5277364" y="39617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A4FABE0B-70A6-4803-942C-97C3C1B23C93}"/>
              </a:ext>
            </a:extLst>
          </p:cNvPr>
          <p:cNvSpPr txBox="1"/>
          <p:nvPr/>
        </p:nvSpPr>
        <p:spPr>
          <a:xfrm>
            <a:off x="9204235" y="4291913"/>
            <a:ext cx="266830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50" b="0" i="0" u="none" dirty="0">
                <a:solidFill>
                  <a:srgbClr val="0284C7"/>
                </a:solidFill>
                <a:latin typeface="Poppins SemiBold"/>
              </a:rPr>
              <a:t>7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. </a:t>
            </a:r>
            <a:r>
              <a:rPr lang="pt-BR" sz="1350" b="0" i="0" u="none" dirty="0">
                <a:solidFill>
                  <a:srgbClr val="0284C7"/>
                </a:solidFill>
                <a:latin typeface="Poppins SemiBold"/>
              </a:rPr>
              <a:t>Comunicação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93259225-D1BA-4897-889F-75BF518478F8}"/>
              </a:ext>
            </a:extLst>
          </p:cNvPr>
          <p:cNvSpPr txBox="1"/>
          <p:nvPr/>
        </p:nvSpPr>
        <p:spPr>
          <a:xfrm>
            <a:off x="9267766" y="4606238"/>
            <a:ext cx="254124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pt-BR" sz="1050" b="0" i="0" u="none" dirty="0">
                <a:solidFill>
                  <a:srgbClr val="334155"/>
                </a:solidFill>
                <a:latin typeface="Inter"/>
              </a:rPr>
              <a:t>Compartilhar o resultado.</a:t>
            </a:r>
            <a:endParaRPr sz="10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56117578-EA57-4918-B601-A1F8FDC21E36}"/>
              </a:ext>
            </a:extLst>
          </p:cNvPr>
          <p:cNvSpPr/>
          <p:nvPr/>
        </p:nvSpPr>
        <p:spPr>
          <a:xfrm>
            <a:off x="10443136" y="3958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2259"/>
            <a:ext cx="5334000" cy="42744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12259"/>
            <a:ext cx="5334000" cy="42744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06" y="40005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5788" y="1985575"/>
            <a:ext cx="4980622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r>
              <a:rPr lang="pt-BR" dirty="0">
                <a:solidFill>
                  <a:srgbClr val="0284C7"/>
                </a:solidFill>
                <a:latin typeface="Poppins SemiBold"/>
              </a:rPr>
              <a:t>Método Indutivo: </a:t>
            </a:r>
            <a:endParaRPr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900" y="2737361"/>
            <a:ext cx="4743450" cy="1720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/>
            <a:r>
              <a:rPr lang="pt-BR" sz="1600" dirty="0">
                <a:solidFill>
                  <a:srgbClr val="334155"/>
                </a:solidFill>
                <a:latin typeface="Inter"/>
              </a:rPr>
              <a:t>Parte de observações particulares para chegar a uma conclusão geral.</a:t>
            </a:r>
          </a:p>
          <a:p>
            <a:pPr lvl="0" algn="just"/>
            <a:endParaRPr lang="pt-BR" sz="16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4155"/>
                </a:solidFill>
                <a:latin typeface="Inter"/>
              </a:rPr>
              <a:t>Exemplo: Observa-se que 1.000 usuários de um app preferem o modo escuro; conclui-se que o modo escuro melhora a retenção geral.</a:t>
            </a:r>
          </a:p>
          <a:p>
            <a:pPr algn="just">
              <a:lnSpc>
                <a:spcPts val="1912"/>
              </a:lnSpc>
            </a:pPr>
            <a:endParaRPr sz="16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09890" y="1985574"/>
            <a:ext cx="49806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dirty="0">
                <a:solidFill>
                  <a:srgbClr val="0284C7"/>
                </a:solidFill>
                <a:latin typeface="Poppins SemiBold"/>
              </a:rPr>
              <a:t>Método Dedutivo:</a:t>
            </a:r>
            <a:endParaRPr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7000" y="2723073"/>
            <a:ext cx="4743450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pt-BR" sz="1600" dirty="0">
                <a:solidFill>
                  <a:srgbClr val="334155"/>
                </a:solidFill>
                <a:latin typeface="Inter"/>
              </a:rPr>
              <a:t>Parte de uma premissa ou teoria geral para explicar um caso particular.</a:t>
            </a:r>
          </a:p>
          <a:p>
            <a:pPr algn="just"/>
            <a:endParaRPr lang="pt-BR" sz="16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4155"/>
                </a:solidFill>
                <a:latin typeface="Inter"/>
              </a:rPr>
              <a:t>Exemplo: Toda linguagem compilada (tradução previa) executa mais rápido que uma interpretada (tradução durante a execução); logo, C++ executará este algoritmo mais rápido que Python.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8" y="2009774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600" y="349806"/>
            <a:ext cx="11161395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BR" sz="2400" b="1" dirty="0">
                <a:solidFill>
                  <a:srgbClr val="0F172A"/>
                </a:solidFill>
                <a:latin typeface="Poppins"/>
              </a:rPr>
              <a:t>Principais Abordagens Metodológicas (Lógica de Raciocínio)</a:t>
            </a:r>
          </a:p>
          <a:p>
            <a:pPr algn="l"/>
            <a:endParaRPr sz="2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Hipótese, Lei e Teoria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níveis de organização do conhecimento científico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Suposição inicial, provisória, formulada para explicar um fenômeno observado. Precisa ser testável.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303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"A prática diária melhora o desempenho em programação."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5768C4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5720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constante e verificado, descrevendo uma relação que se repete em diferentes testes e condições.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5303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Lei da Gravitação Universal.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2468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503920" y="3063240"/>
            <a:ext cx="457200" cy="411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explicações amplo e coerente, que integra hipóteses confirmadas e leis para explicar um conjunto de fenômenos.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03920" y="5303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Teoria da Evolução das espécies.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síntese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86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6479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184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 e indução: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dois motores do raciocínio científico: uma parte do geral, a outra chega até ele.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2432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ponto de partida — uma explicação provisória a ser testada.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7647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6301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padrão comprovado e estável observado nos testes.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78231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3600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edifício explicativo que reúne leis e hipóteses confirmadas em um sistema coerente.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12259"/>
            <a:ext cx="5334000" cy="42744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712259"/>
            <a:ext cx="5334000" cy="42744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06" y="40005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5788" y="1985575"/>
            <a:ext cx="4980622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r>
              <a:rPr lang="pt-BR" dirty="0">
                <a:solidFill>
                  <a:srgbClr val="0284C7"/>
                </a:solidFill>
                <a:latin typeface="Poppins SemiBold"/>
              </a:rPr>
              <a:t>Método Hipotético-Dedutivo:  </a:t>
            </a:r>
            <a:endParaRPr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900" y="2737361"/>
            <a:ext cx="4743450" cy="1351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/>
            <a:r>
              <a:rPr lang="pt-BR" dirty="0">
                <a:solidFill>
                  <a:srgbClr val="334155"/>
                </a:solidFill>
                <a:latin typeface="Inter"/>
              </a:rPr>
              <a:t>Formula uma hipótese baseada num problema e tenta refutá-la por meio de testes e experimentos rigorosos. (Método mais utilizado nas ciências exatas e computação).</a:t>
            </a:r>
          </a:p>
          <a:p>
            <a:pPr algn="just">
              <a:lnSpc>
                <a:spcPts val="1912"/>
              </a:lnSpc>
            </a:pPr>
            <a:endParaRPr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09890" y="1985574"/>
            <a:ext cx="49806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dirty="0">
                <a:solidFill>
                  <a:srgbClr val="0284C7"/>
                </a:solidFill>
                <a:latin typeface="Poppins SemiBold"/>
              </a:rPr>
              <a:t>Método experimental: </a:t>
            </a:r>
            <a:endParaRPr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7000" y="2723073"/>
            <a:ext cx="4743450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/>
            <a:r>
              <a:rPr lang="pt-BR" dirty="0">
                <a:solidFill>
                  <a:srgbClr val="334155"/>
                </a:solidFill>
                <a:latin typeface="Inter"/>
              </a:rPr>
              <a:t>Nesse caso, o pesquisador procura observar o efeito de determinadas condições, frequentemente buscando controlar variáveis.</a:t>
            </a:r>
          </a:p>
          <a:p>
            <a:pPr lvl="0" algn="just"/>
            <a:endParaRPr lang="pt-BR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34155"/>
                </a:solidFill>
                <a:latin typeface="Inter"/>
              </a:rPr>
              <a:t>Exemplo: Dois grupos estudam um determinado conteúdo. Um grupo utiliza uma determinada técnica. Outro grupo utiliza outra estratégia. Depois os resultados são comparados.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488" y="2009774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600" y="349806"/>
            <a:ext cx="11161395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BR" sz="2400" b="1" dirty="0">
                <a:solidFill>
                  <a:srgbClr val="0F172A"/>
                </a:solidFill>
                <a:latin typeface="Poppins"/>
              </a:rPr>
              <a:t>Principais Abordagens Metodológicas (Lógica de Raciocínio)</a:t>
            </a:r>
          </a:p>
          <a:p>
            <a:pPr algn="l"/>
            <a:endParaRPr sz="2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" descr="image.png">
            <a:extLst>
              <a:ext uri="{FF2B5EF4-FFF2-40B4-BE49-F238E27FC236}">
                <a16:creationId xmlns:a16="http://schemas.microsoft.com/office/drawing/2014/main" id="{9EB32BAA-7E1D-4EAE-B35D-0C84E3BE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601DF9E1-932A-4B74-9B25-D07FE67B05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64706"/>
            <a:ext cx="11049000" cy="1524000"/>
          </a:xfrm>
          <a:prstGeom prst="rect">
            <a:avLst/>
          </a:prstGeom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4CEF2B24-E6B3-40AC-B760-924F2D610A9D}"/>
              </a:ext>
            </a:extLst>
          </p:cNvPr>
          <p:cNvSpPr txBox="1"/>
          <p:nvPr/>
        </p:nvSpPr>
        <p:spPr>
          <a:xfrm>
            <a:off x="1557336" y="2023081"/>
            <a:ext cx="90773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pt-BR" sz="2400" i="1" dirty="0">
                <a:solidFill>
                  <a:srgbClr val="334155"/>
                </a:solidFill>
                <a:latin typeface="Inter"/>
              </a:rPr>
              <a:t>"Pesquisar é transformar uma dúvida em uma investigação organizada."</a:t>
            </a:r>
          </a:p>
        </p:txBody>
      </p:sp>
      <p:pic>
        <p:nvPicPr>
          <p:cNvPr id="16" name="Picture 3" descr="image.png">
            <a:extLst>
              <a:ext uri="{FF2B5EF4-FFF2-40B4-BE49-F238E27FC236}">
                <a16:creationId xmlns:a16="http://schemas.microsoft.com/office/drawing/2014/main" id="{79D12C6D-B118-400B-BC0C-F9DB9D5B9C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704850"/>
            <a:ext cx="342900" cy="304800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C911D054-15E8-432E-9B9A-56B198BB50AB}"/>
              </a:ext>
            </a:extLst>
          </p:cNvPr>
          <p:cNvSpPr txBox="1"/>
          <p:nvPr/>
        </p:nvSpPr>
        <p:spPr>
          <a:xfrm>
            <a:off x="1181100" y="686871"/>
            <a:ext cx="1112139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2400" b="1" i="0" u="none" dirty="0">
                <a:solidFill>
                  <a:srgbClr val="0F172A"/>
                </a:solidFill>
                <a:latin typeface="Poppins"/>
              </a:rPr>
              <a:t>Pense</a:t>
            </a:r>
            <a:endParaRPr sz="2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33C1905E-6567-44F8-A815-2A278EC6108D}"/>
              </a:ext>
            </a:extLst>
          </p:cNvPr>
          <p:cNvSpPr/>
          <p:nvPr/>
        </p:nvSpPr>
        <p:spPr>
          <a:xfrm>
            <a:off x="723900" y="12001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AF7D9DC-27F9-4886-86B2-985AF884B888}"/>
              </a:ext>
            </a:extLst>
          </p:cNvPr>
          <p:cNvSpPr/>
          <p:nvPr/>
        </p:nvSpPr>
        <p:spPr>
          <a:xfrm>
            <a:off x="725468" y="3518745"/>
            <a:ext cx="104949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Lembre-se:</a:t>
            </a:r>
            <a:r>
              <a:rPr lang="pt-BR" sz="2400" i="1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A ciência não elimina as perguntas. Ela produz respostas que podem gerar novas perguntas.</a:t>
            </a:r>
          </a:p>
        </p:txBody>
      </p:sp>
    </p:spTree>
    <p:extLst>
      <p:ext uri="{BB962C8B-B14F-4D97-AF65-F5344CB8AC3E}">
        <p14:creationId xmlns:p14="http://schemas.microsoft.com/office/powerpoint/2010/main" val="1337829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5537"/>
            <a:ext cx="5429250" cy="138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395537"/>
            <a:ext cx="5429250" cy="138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7162"/>
            <a:ext cx="5429250" cy="1381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967162"/>
            <a:ext cx="5429250" cy="1381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586037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1. Matrizes do Saber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86087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O conhecimento divide-se em empírico, filosófico, teológico e científico.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2586037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2. O Rigor Científico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2986087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Distingue-se pelo método, testabilidade e validação empírica rigorosa.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157662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3. Tipologias de Pesquisa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557712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Classifica-se quanto à natureza, objetivos, abordagem e procedimentos.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4157662"/>
            <a:ext cx="5170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4. Inovação com Ciência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557712"/>
            <a:ext cx="4924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Tecnologias robustas e escaláveis dependem diretamente de metodologia científica.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534471"/>
            <a:ext cx="1108138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Síntese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da Aula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-42346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9"/>
            <a:ext cx="11049000" cy="3364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1238250"/>
            <a:ext cx="108013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4800" b="1" dirty="0">
                <a:solidFill>
                  <a:srgbClr val="FFFFFF"/>
                </a:solidFill>
                <a:latin typeface="Poppins"/>
              </a:rPr>
              <a:t>Atividade Prática Proposta para os Alunos </a:t>
            </a:r>
            <a:endParaRPr sz="4800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500" y="2206143"/>
            <a:ext cx="1028700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pt-BR" dirty="0">
                <a:solidFill>
                  <a:srgbClr val="38BDF8"/>
                </a:solidFill>
                <a:latin typeface="Inter"/>
              </a:rPr>
              <a:t>Desafio em Grupo: "Da Ideia à Pesquisa"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37" y="3076575"/>
            <a:ext cx="219075" cy="17145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1BE67B2F-01E6-4F0F-8817-6694B07E4509}"/>
              </a:ext>
            </a:extLst>
          </p:cNvPr>
          <p:cNvSpPr txBox="1"/>
          <p:nvPr/>
        </p:nvSpPr>
        <p:spPr>
          <a:xfrm>
            <a:off x="571500" y="4005951"/>
            <a:ext cx="11049000" cy="2687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Cenário: Cada grupo deve escolher duas </a:t>
            </a:r>
            <a:r>
              <a:rPr lang="pt-BR" dirty="0"/>
              <a:t>notícia, descoberta científica recentes ou ainda episódio histórico na área da </a:t>
            </a:r>
            <a:r>
              <a:rPr lang="pt-BR" sz="2000" dirty="0">
                <a:solidFill>
                  <a:srgbClr val="334155"/>
                </a:solidFill>
                <a:latin typeface="Inter"/>
              </a:rPr>
              <a:t> tecnologia emergente (ex.: </a:t>
            </a:r>
            <a:r>
              <a:rPr lang="pt-BR" sz="2000" b="1" dirty="0">
                <a:solidFill>
                  <a:srgbClr val="334155"/>
                </a:solidFill>
                <a:latin typeface="Inter"/>
              </a:rPr>
              <a:t>IA Generativa, Internet das Coisas, Criptografia Pós-Quântica</a:t>
            </a:r>
            <a:r>
              <a:rPr lang="pt-BR" sz="2000" dirty="0">
                <a:solidFill>
                  <a:srgbClr val="334155"/>
                </a:solidFill>
                <a:latin typeface="Inter"/>
              </a:rPr>
              <a:t>) e preencher a ficha abaixo:</a:t>
            </a:r>
          </a:p>
          <a:p>
            <a:pPr algn="just">
              <a:lnSpc>
                <a:spcPts val="1912"/>
              </a:lnSpc>
            </a:pPr>
            <a:endParaRPr lang="pt-BR" sz="20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Fonte pesquisada (link ou nome do veículo)</a:t>
            </a: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Resumo do caso </a:t>
            </a: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Esse caso envolve principalmente conhecimento empírico, filosófico, teológico ou científico? Justifique.</a:t>
            </a: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-42346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9"/>
            <a:ext cx="11049000" cy="3364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1238250"/>
            <a:ext cx="108013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4800" b="1" dirty="0">
                <a:solidFill>
                  <a:srgbClr val="FFFFFF"/>
                </a:solidFill>
                <a:latin typeface="Poppins"/>
              </a:rPr>
              <a:t>Atividade Prática Proposta para os Alunos </a:t>
            </a:r>
            <a:endParaRPr sz="4800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500" y="2206143"/>
            <a:ext cx="1028700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pt-BR" dirty="0">
                <a:solidFill>
                  <a:srgbClr val="38BDF8"/>
                </a:solidFill>
                <a:latin typeface="Inter"/>
              </a:rPr>
              <a:t>Desafio em Grupo: "Da Ideia à Pesquisa"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37" y="3076575"/>
            <a:ext cx="219075" cy="17145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1BE67B2F-01E6-4F0F-8817-6694B07E4509}"/>
              </a:ext>
            </a:extLst>
          </p:cNvPr>
          <p:cNvSpPr txBox="1"/>
          <p:nvPr/>
        </p:nvSpPr>
        <p:spPr>
          <a:xfrm>
            <a:off x="571500" y="4005951"/>
            <a:ext cx="11049000" cy="1712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endParaRPr lang="pt-BR" sz="20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Se for conhecimento científico: ele foi construído por raciocínio dedutivo ou indutivo? Explique o caminho lógico</a:t>
            </a: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Trata-se de uma teoria, hipótese ou lei? </a:t>
            </a: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334155"/>
              </a:solidFill>
              <a:latin typeface="Inter"/>
            </a:endParaRPr>
          </a:p>
          <a:p>
            <a:pPr marL="742950" lvl="1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34155"/>
                </a:solidFill>
                <a:latin typeface="Inter"/>
              </a:rPr>
              <a:t>Apresente brevemente para a classe</a:t>
            </a:r>
          </a:p>
        </p:txBody>
      </p:sp>
    </p:spTree>
    <p:extLst>
      <p:ext uri="{BB962C8B-B14F-4D97-AF65-F5344CB8AC3E}">
        <p14:creationId xmlns:p14="http://schemas.microsoft.com/office/powerpoint/2010/main" val="770564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47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0194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79095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009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009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077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397918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https://history.washington.edu/sites/history/files/images/8314929977_28fd740070_b.jpg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31281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history.washington.edu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6230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16944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https://coxauto.com.au/wp-content/uploads/2024/02/CA_Blog_Intro_Image_Car_Battery_01_@2x.jpg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0280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coxauto.com.au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95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933825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previews/079/427/297/non_2x/abstract-ai-technology-background-with-neural-network-lines-radiating-from-a-central-ai-icon-futuristic-data-connections-and-digital-innovation-artificial-intelligence-and-digital-machine-learning-vector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352925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768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8394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https://images.presentationgo.com/2025/07/female-scientist-lab-pipette.jpg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11730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www.presentationgo.com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12192000" cy="52292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18616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534471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BR" sz="2400" b="1" dirty="0">
                <a:solidFill>
                  <a:srgbClr val="0F172A"/>
                </a:solidFill>
                <a:latin typeface="Poppins"/>
              </a:rPr>
              <a:t>Referências</a:t>
            </a:r>
            <a:endParaRPr sz="2400" b="1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C3D12B6-124D-41E1-B833-929C8F273B6E}"/>
              </a:ext>
            </a:extLst>
          </p:cNvPr>
          <p:cNvSpPr/>
          <p:nvPr/>
        </p:nvSpPr>
        <p:spPr>
          <a:xfrm>
            <a:off x="1310259" y="1381795"/>
            <a:ext cx="8526780" cy="4543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900" dirty="0">
                <a:solidFill>
                  <a:srgbClr val="334155"/>
                </a:solidFill>
                <a:latin typeface="Inter"/>
              </a:rPr>
              <a:t>GIL, </a:t>
            </a:r>
            <a:r>
              <a:rPr lang="pt-BR" sz="1900" dirty="0" err="1">
                <a:solidFill>
                  <a:srgbClr val="334155"/>
                </a:solidFill>
                <a:latin typeface="Inter"/>
              </a:rPr>
              <a:t>Antonio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 Carlos. </a:t>
            </a:r>
            <a:r>
              <a:rPr lang="pt-BR" sz="1900" dirty="0">
                <a:solidFill>
                  <a:srgbClr val="4F46E5"/>
                </a:solidFill>
                <a:latin typeface="Inter"/>
              </a:rPr>
              <a:t>Como Elaborar Projetos de Pesquisa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 São Paulo: Atlas. </a:t>
            </a: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900" dirty="0">
              <a:solidFill>
                <a:srgbClr val="334155"/>
              </a:solidFill>
              <a:latin typeface="Inter"/>
            </a:endParaRP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900" dirty="0">
                <a:solidFill>
                  <a:srgbClr val="334155"/>
                </a:solidFill>
                <a:latin typeface="Inter"/>
              </a:rPr>
              <a:t>MARCONI, Marina de Andrade; LAKATOS, Eva Maria. </a:t>
            </a:r>
            <a:r>
              <a:rPr lang="pt-BR" sz="1900" dirty="0">
                <a:solidFill>
                  <a:srgbClr val="4F46E5"/>
                </a:solidFill>
                <a:latin typeface="Inter"/>
              </a:rPr>
              <a:t>Fundamentos de Metodologia Científica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 São Paulo: Atlas. </a:t>
            </a: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900" dirty="0">
              <a:solidFill>
                <a:srgbClr val="334155"/>
              </a:solidFill>
              <a:latin typeface="Inter"/>
            </a:endParaRP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900" dirty="0">
                <a:solidFill>
                  <a:srgbClr val="334155"/>
                </a:solidFill>
                <a:latin typeface="Inter"/>
              </a:rPr>
              <a:t>SEVERINO, Antônio Joaquim. </a:t>
            </a:r>
            <a:r>
              <a:rPr lang="pt-BR" sz="1900" dirty="0">
                <a:solidFill>
                  <a:srgbClr val="4F46E5"/>
                </a:solidFill>
                <a:latin typeface="Inter"/>
              </a:rPr>
              <a:t>Metodologia do Trabalho Científico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 São Paulo: Cortez. </a:t>
            </a: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900" dirty="0">
              <a:solidFill>
                <a:srgbClr val="334155"/>
              </a:solidFill>
              <a:latin typeface="Inter"/>
            </a:endParaRP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900" dirty="0">
                <a:solidFill>
                  <a:srgbClr val="334155"/>
                </a:solidFill>
                <a:latin typeface="Inter"/>
              </a:rPr>
              <a:t>PRODANOV, Cleber Cristiano; FREITAS, Ernani Cesar de. </a:t>
            </a:r>
            <a:r>
              <a:rPr lang="pt-BR" sz="1900" dirty="0">
                <a:solidFill>
                  <a:srgbClr val="4F46E5"/>
                </a:solidFill>
                <a:latin typeface="Inter"/>
              </a:rPr>
              <a:t>Metodologia do Trabalho Científico: Métodos e Técnicas da Pesquisa e do Trabalho Acadêmico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 Novo Hamburgo: </a:t>
            </a:r>
            <a:r>
              <a:rPr lang="pt-BR" sz="1900" dirty="0" err="1">
                <a:solidFill>
                  <a:srgbClr val="334155"/>
                </a:solidFill>
                <a:latin typeface="Inter"/>
              </a:rPr>
              <a:t>Feevale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 </a:t>
            </a:r>
          </a:p>
          <a:p>
            <a:pPr marL="5143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900" dirty="0">
              <a:solidFill>
                <a:srgbClr val="334155"/>
              </a:solidFill>
              <a:latin typeface="Inter"/>
            </a:endParaRPr>
          </a:p>
          <a:p>
            <a:pPr marL="5143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900" dirty="0">
                <a:solidFill>
                  <a:srgbClr val="334155"/>
                </a:solidFill>
                <a:latin typeface="Inter"/>
              </a:rPr>
              <a:t>POPPER, Karl. </a:t>
            </a:r>
            <a:r>
              <a:rPr lang="pt-BR" sz="1900" dirty="0">
                <a:solidFill>
                  <a:srgbClr val="4F46E5"/>
                </a:solidFill>
                <a:latin typeface="Inter"/>
              </a:rPr>
              <a:t>A Lógica da Pesquisa Científica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 São Paulo: </a:t>
            </a:r>
            <a:r>
              <a:rPr lang="pt-BR" sz="1900" dirty="0" err="1">
                <a:solidFill>
                  <a:srgbClr val="334155"/>
                </a:solidFill>
                <a:latin typeface="Inter"/>
              </a:rPr>
              <a:t>Cultrix</a:t>
            </a:r>
            <a:r>
              <a:rPr lang="pt-BR" sz="1900" dirty="0">
                <a:solidFill>
                  <a:srgbClr val="334155"/>
                </a:solidFill>
                <a:latin typeface="Inter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2A61B140-7557-4A72-B344-AB0BF9FBEE71}"/>
              </a:ext>
            </a:extLst>
          </p:cNvPr>
          <p:cNvSpPr/>
          <p:nvPr/>
        </p:nvSpPr>
        <p:spPr>
          <a:xfrm>
            <a:off x="571500" y="27576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B8057FD5-C77B-4A93-8F16-F7224C6AD446}"/>
              </a:ext>
            </a:extLst>
          </p:cNvPr>
          <p:cNvSpPr/>
          <p:nvPr/>
        </p:nvSpPr>
        <p:spPr>
          <a:xfrm>
            <a:off x="571500" y="36536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D87118AD-155A-40F4-AAEA-09EB1836D696}"/>
              </a:ext>
            </a:extLst>
          </p:cNvPr>
          <p:cNvSpPr/>
          <p:nvPr/>
        </p:nvSpPr>
        <p:spPr>
          <a:xfrm>
            <a:off x="571500" y="49423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0507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2595</Words>
  <Application>Microsoft Office PowerPoint</Application>
  <PresentationFormat>Widescreen</PresentationFormat>
  <Paragraphs>259</Paragraphs>
  <Slides>30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Cambria</vt:lpstr>
      <vt:lpstr>Inter</vt:lpstr>
      <vt:lpstr>Inter Medium</vt:lpstr>
      <vt:lpstr>Inter SemiBold</vt:lpstr>
      <vt:lpstr>Poppins</vt:lpstr>
      <vt:lpstr>Poppins SemiBold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Secretaria 02</cp:lastModifiedBy>
  <cp:revision>29</cp:revision>
  <dcterms:created xsi:type="dcterms:W3CDTF">2013-01-27T09:14:16Z</dcterms:created>
  <dcterms:modified xsi:type="dcterms:W3CDTF">2026-08-12T19:04:33Z</dcterms:modified>
  <cp:category/>
</cp:coreProperties>
</file>