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3.png"/><Relationship Id="rId7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2573684"/>
            <a:ext cx="9001125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FFFFFF"/>
                </a:solidFill>
                <a:latin typeface="Merriweather"/>
              </a:rPr>
              <a:t>Modalidades de Trabalhos Acadêmicos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7737" y="3998565"/>
            <a:ext cx="26765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38BDF8"/>
                </a:solidFill>
                <a:latin typeface="Plus Jakarta Sans Medium"/>
              </a:rPr>
              <a:t>Prof. Me. Lucas P. Porto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25810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Modalidades de Trabalhos Acadêmicos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383035"/>
            <a:ext cx="533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Na aula anterior, vimos o que é conhecimento científico e como o método científico é aplicado para evidenciar fatos ou promover descobertas. Porém, depois que a pesquisa é feita e se chega a conclusões, ela precisa ser registrada e comunicada de alguma forma a sociedade.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40310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É nesse momento que entram as modalidades de trabalhos acadêmicos que são os “formatos” ou “produtos finais” em que uma pesquisa é apresentada para o mundo.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268985"/>
            <a:ext cx="5334000" cy="8001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4459485"/>
            <a:ext cx="4953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Lembre-se: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“Conhecimento produzido deve ser registrado e comunicado”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268985"/>
            <a:ext cx="38100" cy="800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735335"/>
            <a:ext cx="5314950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0223"/>
            <a:ext cx="542925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740223"/>
            <a:ext cx="5429250" cy="1971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E por quê deve ser comunicado?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1575" y="2978348"/>
            <a:ext cx="482060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Validação Coletiva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30773"/>
            <a:ext cx="4953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 ciência não funciona como um conhecimento guardado individualmente pelo pesquisador. A comunicação permite que os resultados sejam discutidos, utilizados e questionados por outras pessoas.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2978348"/>
            <a:ext cx="485060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O Documento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375" y="3330773"/>
            <a:ext cx="4953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Pense assim: se a pesquisa é o “processo de investigação”, o trabalho acadêmico é o “documento final” que relata esse processo — e existem várias formas de organizar esse documento, dependendo do objetivo, do tamanho e do nível de formação de quem escreve.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92635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992635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92673"/>
            <a:ext cx="5429250" cy="1514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292673"/>
            <a:ext cx="5429250" cy="1514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Comunicação Científica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644973"/>
            <a:ext cx="1104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O que é comunicação científica? A esse processo de tornar o conhecimento científico acessível para outras pessoas — sejam outros pesquisadores, estudantes ou a sociedade em geral. É que denominamos comunicação científica e ela pode acontecer de diferentes formas: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30798"/>
            <a:ext cx="485060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Comunicação formal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83223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Artigos em periódicos, anais de congresso, livros — passam por revisão por pares (peer review), ou seja, outros especialistas avaliam o trabalho antes de ele ser publicado.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325" y="3530798"/>
            <a:ext cx="482060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Comunicação informal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3883223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Conversas em congressos, grupos de pesquisa, redes sociais acadêmicas, pré-publicações (preprints) — geralmente mais rápidas, mas sem revisão formal ainda.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545085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3545085"/>
            <a:ext cx="2667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Quadro-resumo: tipos de comunicação científica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609254"/>
          <a:ext cx="11048998" cy="223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4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Tipo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Exemplo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Passa por revisão por pares?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Artigo em periódico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Publicação em revista científica indexada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 Sim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Artigo em anais de congresso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Trabalho apresentado em evento acadêmico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 Geralmente sim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Preprint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Publicação rápida em repositório (ex.: arXiv, scielo)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 Não (ainda)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72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Divulgação científica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Post em blog, vídeo, entrevista para leigos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 Não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3514129"/>
            <a:ext cx="3077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49414" y="3514129"/>
            <a:ext cx="4774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24118" y="3514129"/>
            <a:ext cx="3196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952279"/>
            <a:ext cx="3077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49414" y="3952279"/>
            <a:ext cx="4774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24118" y="3952279"/>
            <a:ext cx="3196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390429"/>
            <a:ext cx="3077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49414" y="4390429"/>
            <a:ext cx="4774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24118" y="4390429"/>
            <a:ext cx="3196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828579"/>
            <a:ext cx="3077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49414" y="4828579"/>
            <a:ext cx="4774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24118" y="4828579"/>
            <a:ext cx="3196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568" y="3242667"/>
            <a:ext cx="13335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568" y="4118967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568" y="4557117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568" y="3680817"/>
            <a:ext cx="1333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568" y="3242667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568" y="3680817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568" y="4118967"/>
            <a:ext cx="1333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568" y="4557117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21298"/>
            <a:ext cx="5048250" cy="1438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300662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Comunicação científica - Revisão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292548"/>
            <a:ext cx="50482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Por que a revisão por pares é importante? Porque é ela que garante um mínimo de qualidade e confiabilidade ao que é publicado — especialistas na área analisam se o método foi bem aplicado, se os dados sustentam as conclusões, e se o trabalho realmente contribui com algo novo.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911798"/>
            <a:ext cx="4629150" cy="1057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369A1"/>
                </a:solidFill>
                <a:latin typeface="Plus Jakarta Sans"/>
              </a:rPr>
              <a:t>Exemplo prático (tecnologia):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quando uma empresa de tecnologia divulga um novo algoritmo de inteligência artificial em um paper (artigo científico) publicado em uma conferência como a NeurIPS ou a SBC, ela está fazendo comunicação científica formal — o trabalho passou por avaliação de outros pesquisadores da área antes de ser aceito.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Artigos científicos e Monografias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3059310"/>
            <a:ext cx="5600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Merriweather"/>
              </a:rPr>
              <a:t>O que é um artigo científico?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392685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É um texto curto e objetivo que apresenta os resultados de uma pesquisa (ou uma revisão sobre um tema), seguindo uma estrutura padronizada, para ser publicado em revistas científicas (periódicos) ou apresentado em congressos/eventos acadêmicos.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302073"/>
            <a:ext cx="5600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Estrutura comum de um artigo científico: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26354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Título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claro e específico sobre o que foi pesquisado.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292119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Resumo (Abstract)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síntese de todo o artigo em poucas linhas.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2069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Palavras-chave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termos que ajudam a indexar o artigo.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49269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Introdução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contextualiza o problema e justifica a pesquisa.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7784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Referencial teórico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o que outros autores já disseram.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06419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Metodologia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como a pesquisa foi feita.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3499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Resultados e discussão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o que foi encontrado e seu significado.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63569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Considerações finais (conclusão)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retoma o problema e responde.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9214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Referências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todas as fontes citadas no texto.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54498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40248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25998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511748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797498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83248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368998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654748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940498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16560"/>
            <a:ext cx="11049000" cy="1019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Artigos científicos e Monografias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516385"/>
            <a:ext cx="1104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palavra Monografia deriva do grego (mono = único; grafia = escrita) e refere-se ao estudo pormenorizado sobre um único tema ou problema específico.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173610"/>
            <a:ext cx="1104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Embora o termo "monografia" seja frequentemente associado à graduação, ele engloba um espectro de trabalhos ao longo da formação acadêmica e profissional: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392810"/>
            <a:ext cx="10648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284C7"/>
                </a:solidFill>
                <a:latin typeface="Plus Jakarta Sans Medium"/>
              </a:rPr>
              <a:t>-----------------------------------------------------------------------&gt;</a:t>
            </a:r>
            <a:r>
              <a:t>
</a:t>
            </a:r>
            <a:r>
              <a:rPr sz="1050" b="0" i="0" u="none">
                <a:solidFill>
                  <a:srgbClr val="0284C7"/>
                </a:solidFill>
                <a:latin typeface="Plus Jakarta Sans Medium"/>
              </a:rPr>
              <a:t> (+) Aprofundamento, Ineditismo e Rigor Metodológico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9235"/>
            <a:ext cx="5429250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59235"/>
            <a:ext cx="5429250" cy="253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Trabalhos de Graduação (TG) e TCC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6325" y="26973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Quem escreve: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alunos concluindo um curso técnico ou de graduação (bacharelado, licenciatura ou tecnólogo).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2688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Objetivo: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demonstrar que o aluno é capaz de aplicar, de forma prática, os conhecimentos adquiridos ao longo do 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8403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Foco: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Solução de problemas práticos, estudos de caso, desenvolvimento de protótipos ou sistemas, ou síntese bibliográfica.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75" y="26973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Formato comum: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pode ser uma monografia tradicional, um artigo científico, ou até um projeto prático com relatório (comum em cursos de tecnologia/engenharia).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75" y="34974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Nível de profundidade: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introdutório — é o primeiro grande trabalho de pesquisa do aluno.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75" y="40689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Exemplo em Tecnologia: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Desenvolvimento de um aplicativo móvel para gestão de resíduos sólidos urbanos com validação de uso.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71641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28791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85941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716410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3516510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08801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70520"/>
            <a:ext cx="11049000" cy="53112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Trabalhos de Pós-Graduação Lato Sensu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1575" y="1308645"/>
            <a:ext cx="1072134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Especialização / MBA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322933"/>
            <a:ext cx="26670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6325" y="1689645"/>
            <a:ext cx="10306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Quem escreve: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alunos concluindo um curso de especialização ou MBA (pós-graduação lato sensu) ou seja, que já tenham uma graduação concluída.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2242095"/>
            <a:ext cx="10306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Objetivo: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Aprofundar o conhecimento prático e técnico focado no mercado de trabalho ou em uma subárea específica.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2565945"/>
            <a:ext cx="10306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Foco: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Aplicação direta de metodologias e tecnologias para resolver problemas de negócios, indústria ou gestão.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889795"/>
            <a:ext cx="10306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Nível de profundidade: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intermediário — mais aprofundado que um TCC de graduação, mas geralmente com menos exigência de originalidade teórica que um mestrado.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442245"/>
            <a:ext cx="10306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Exemplo em Tecnologia: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Plano de implementação de arquitetura Zero Trust em uma infraestrutura em nuvem corporativa.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170869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26114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584995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08845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46129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3535"/>
            <a:ext cx="5429250" cy="2305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573535"/>
            <a:ext cx="5429250" cy="2305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Dissertação de Mestrado (Stricto Sensu)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6325" y="2811660"/>
            <a:ext cx="4686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Quem escreve: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alunos de mestrado (acadêmico).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1545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Objetivo: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Demonstrar domínio amplo da literatura científica sobre o tema e capacidade de conduzir uma pesquisa sistemática com metodologia rigorosa.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9546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Características: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Não exige ineditismo estrito, mas deve agregar valor técnico/científico relevante (ex.: comparar técnicas existentes sob novas condições).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75" y="28116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Nível de profundidade: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avançado — exige revisão de literatura extensa, metodologia bem definida e, geralmente, defesa perante uma banca examinadora.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75" y="36117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Diferencial: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já é considerada uma pesquisa científica “de verdade”, com potencial de gerar artigos científicos publicáveis.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75" y="41832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Exemplo em Tecnologia: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Análise comparativa do desempenho de algoritmos de ordenação em GPUs de arquitetura híbrida.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83071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17361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97371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830710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3630810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20231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300662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Tese de Doutorado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935360"/>
            <a:ext cx="4781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Quem escreve: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alunos de doutorado.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240160"/>
            <a:ext cx="4781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Objetivo: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Propor um avanço inédito no conhecimento humano (originalidade). Significa produzir uma contribuição original e significativa.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002160"/>
            <a:ext cx="4781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Características: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 tese precisa defender uma ideia original e comprovar cientificamente sua validade. Exige anos de investigação profunda.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6416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Nível de profundidade: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o mais alto — exige ineditismo, rigor metodológico e defesa perante banca.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29756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Diferencial: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o doutorando precisa demonstrar autonomia total como pesquisador.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830960"/>
            <a:ext cx="4781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Exemplo em Tecnologia: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um doutorando propõe uma nova arquitetura de rede neural, testa em diferentes cenários e mostra que representa um avanço real para a IA.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5441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5921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2121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8321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1661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85001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71404"/>
            <a:ext cx="110490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Quadro-resumo: modalidades de monografia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194917"/>
          <a:ext cx="11048998" cy="223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9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Modalidade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Nível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Foco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Banca examinadora?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TCC (Graduação)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Graduação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Aplicação prática do que foi aprendido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Geralmente sim (mais simples)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Trabalho de Especialização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Pós lato sensu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Aprofundamento técnico/prático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Às vezes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Dissertação de Mestrado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Pós stricto sensu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Contribuição relevante e nova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72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Tese de Doutorado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Pós stricto sensu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Contribuição original e inédita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Sim (mais rigorosa)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" y="4685704"/>
            <a:ext cx="10629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369A1"/>
                </a:solidFill>
                <a:latin typeface="Plus Jakarta Sans"/>
              </a:rPr>
              <a:t>Dica: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pense em uma escada de profundidade — TCC é o primeiro degrau da pesquisa acadêmica, e a tese de doutorado é o topo. Quanto mais alto o degrau, maior a exigência de originalidade e rigor metodológico.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99792"/>
            <a:ext cx="2721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3268" y="3099792"/>
            <a:ext cx="1814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07781" y="3099792"/>
            <a:ext cx="35793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7097" y="3099792"/>
            <a:ext cx="2933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537942"/>
            <a:ext cx="2721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3268" y="3537942"/>
            <a:ext cx="1814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07781" y="3537942"/>
            <a:ext cx="35793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7097" y="3537942"/>
            <a:ext cx="2933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3976092"/>
            <a:ext cx="2721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3268" y="3976092"/>
            <a:ext cx="1814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07781" y="3976092"/>
            <a:ext cx="35793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7097" y="3976092"/>
            <a:ext cx="2933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4414242"/>
            <a:ext cx="2721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93268" y="4414242"/>
            <a:ext cx="1814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07781" y="4414242"/>
            <a:ext cx="35793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7097" y="4414242"/>
            <a:ext cx="2933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0223"/>
            <a:ext cx="542925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740223"/>
            <a:ext cx="5429250" cy="1971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Curiosidade - "Mito" da Obrigação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4425" y="2978348"/>
            <a:ext cx="488061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Exigência das Universidades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30773"/>
            <a:ext cx="4953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Como o sistema brasileiro é muito concorrido, a grande maioria dos programas de pós-graduação colocava nos seus editais internos que o diploma de mestre era obrigatório para a inscrição. Pouquíssimas instituições (como a USP) abriam exceções para o "Doutorado Direto".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2978348"/>
            <a:ext cx="482060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A Cultura Académica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375" y="3330773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Criou-se no Brasil uma tradição cultural muito forte de que a formação precisava ser estritamente sequencial: Graduação → Mestrado → Doutorado. Pular etapas era visto com desconfiança.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9263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992635"/>
            <a:ext cx="2667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21198"/>
            <a:ext cx="3555950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921198"/>
            <a:ext cx="3555950" cy="2181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921198"/>
            <a:ext cx="3556099" cy="2181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Curiosidade - O que mudou muito recentemente?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2349698"/>
            <a:ext cx="11049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A grande mudança recente que gerou muitas notícias envolveu o bolso dos estudantes e as regras de bolsas de estudo da CAPES (órgão do Ministério da Educação):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159323"/>
            <a:ext cx="294364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A Trava das Bolsas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511748"/>
            <a:ext cx="307970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Até há pouco tempo, se um estudante entrasse no mestrado com uma bolsa e quisesse mudar para o doutorado antes de terminar (pelo bom desempenho), ele enfrentava uma burocracia imensa e corria o sério risco de perder o financiamento no meio do caminho.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250" y="3159323"/>
            <a:ext cx="2963651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A Virada da CAPES (Portaria 88/2025)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3749873"/>
            <a:ext cx="307970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Em 2025, a CAPES publicou uma nova regra histórica eliminando de vez qualquer exigência de titulação prévia para a mudança de nível. A partir disso, passou a ser permitido converter a bolsa de mestrado em bolsa de doutorado de forma automática e sem risco para o aluno de desempenho excecional.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7325" y="3159323"/>
            <a:ext cx="291380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Incentivo Estadual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511748"/>
            <a:ext cx="3079849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Universidades públicas e agências como a FAPESP começaram a criar programas conjuntos agressivos para incentivar os jovens a saltarem o mestrado, tentando reduzir a idade média com que os cientistas se formam no país (que passa dos 35 anos).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173610"/>
            <a:ext cx="18097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3292673"/>
            <a:ext cx="1619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317361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16535"/>
            <a:ext cx="5334000" cy="1076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Curiosidade – Pós Doutorado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659260"/>
            <a:ext cx="533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Diferente do doutorado, o pós-doutorado (ou simplesmente "pós-doc") não é um grau académico ou um título. Ele é um estágio de pesquisa de curto ou médio prazo. Você não recebe um diploma de "pós-doutor", apenas um certificado de conclusão de um bloco de trabalho prático.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735335"/>
            <a:ext cx="208597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" y="3907035"/>
            <a:ext cx="1238250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Regra Geral: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173735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Para ingressar em um pós-doutorado, a regra é clara e sem exceções: é obrigatório ter o título de Doutor.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945135"/>
            <a:ext cx="171450" cy="17145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8CDBD68-D2D6-455A-B5BC-96D8BACBBB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6" y="1725810"/>
            <a:ext cx="5501528" cy="33487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30635"/>
            <a:ext cx="5429250" cy="1514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230635"/>
            <a:ext cx="54292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35610"/>
            <a:ext cx="5429250" cy="1285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935610"/>
            <a:ext cx="5429250" cy="1285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Curiosidade - Como funciona o Pós-Doutorado?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5850" y="2468760"/>
            <a:ext cx="4910613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Foco 100% Prático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821185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Não existem disciplinas, salas de aula, provas ou créditos para cumprir. Você vai direto para o laboratório ou mesa de estudos trabalhar.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468760"/>
            <a:ext cx="4910613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Autonomia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821185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O seu papel principal é conduzir uma pesquisa complexa e avançada, além de ajudar a orientar os alunos de mestrado e doutorado do laboratório.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575" y="4173735"/>
            <a:ext cx="482060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Sem Orientador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526160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Você não tem um orientador. Em vez disso, tem um supervisor (um professor mais experiente que acompanha o seu progresso).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173735"/>
            <a:ext cx="4910613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Vínculo Temporário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526160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Geralmente dura entre 1 e 2 anos, mas pode ser renovado caso haja financiamento disponível para o projeto.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483048"/>
            <a:ext cx="18097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483048"/>
            <a:ext cx="180975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188023"/>
            <a:ext cx="26670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4188023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70520"/>
            <a:ext cx="11049000" cy="53112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613570"/>
            <a:ext cx="2500312" cy="704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37" y="2613570"/>
            <a:ext cx="2500312" cy="704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613570"/>
            <a:ext cx="2500312" cy="704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2062" y="2613570"/>
            <a:ext cx="2500312" cy="704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Atividade 1 — Caça ao Trabalho Acadêmico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4425" y="1308645"/>
            <a:ext cx="1078134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O que o aluno deve fazer: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1689645"/>
            <a:ext cx="10572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Escolher um tema de tecnologia de seu interesse (ex.: Inteligência Artificial, Cibersegurança, Internet das Coisas, Computação em Nuvem, Blockchain, Desenvolvimento de Software, etc.) e buscar, em plataformas acadêmicas gratuitas, quatro trabalhos diferentes sobre esse tema — um de cada modalidade estudada: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1322933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Atividade 1 - Onde buscar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2683073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 SemiBold"/>
              </a:rPr>
              <a:t>Sugestões de plataformas gratuitas: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54548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Google Acadêmico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(scholar.google.com)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26023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Biblioteca Digital Brasileira de Teses e Dissertações — BDTD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(bdtd.ibict.br)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97498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SciELO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(scielo.br)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168973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Repositórios institucionais de universidades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(UFRJ, USP, UFMG, etc. — buscar “[nome da universidade] repositório”)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540448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Portal de Periódicos CAPES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(periodicos.capes.gov.br)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73598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45073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6548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88023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59498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Atividade 1 - Ficha de Preenchimento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585317"/>
            <a:ext cx="11049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Para cada um dos 4 trabalhos encontrados, o aluno deve preencher uma ficha com: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1880592"/>
          <a:ext cx="11049000" cy="398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Campo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O que preencher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Título do trabalho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Autor(a)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Instituição / Ano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Modalidade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(TCC, Artigo, Dissertação ou Tese)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Tema/problema pesquisado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(2-3 linhas, com as próprias palavras)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Estrutura observada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(quais seções o trabalho tem: resumo, introdução, metodologia, etc.)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Número aproximado de páginas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Link ou fonte onde encontrou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1500" y="278546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8650" y="278546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2361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8650" y="322361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66176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8650" y="366176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09991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8650" y="409991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53806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8650" y="453806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497621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8650" y="497621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541436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8650" y="541436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585251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8650" y="585251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Referências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200" y="2697360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SEVERINO, Antônio Joaquim.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Metodologia do Trabalho Científico.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São Paulo: Cortez.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40260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MARCONI, Marina de Andrade; LAKATOS, Eva Maria.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Fundamentos de Metodologia Científica.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São Paulo: Atlas.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383160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GIL, Antonio Carlos.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Como Elaborar Projetos de Pesquisa.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São Paulo: Atlas.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26060"/>
            <a:ext cx="10782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ASSOCIAÇÃO BRASILEIRA DE NORMAS TÉCNICAS (ABNT).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NBR 14724: Informação e documentação — Trabalhos acadêmicos — Apresentação.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Rio de Janeiro: ABNT.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297560"/>
            <a:ext cx="10782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PRODANOV, Cleber Cristiano; FREITAS, Ernani Cesar de.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Metodologia do Trabalho Científico: Métodos e Técnicas da Pesquisa e do Trabalho Acadêmico.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Novo Hamburgo: Feevale.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6410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5931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0221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4511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1661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2102048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873573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816548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8640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8640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8070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8070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5785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5785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44923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2252067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https://waitro.org/wp-content/uploads/researcher-international-documents-library-study.jpg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485429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waitro.org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02173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3016448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https://media.istockphoto.com/id/962695586/photo/public-speaker-at-science-convention.jpg?s=612x612&amp;w=0&amp;k=20&amp;c=_GycBl1q6s0POoxEiXKLLJcG6Dy780yIELT-SxiPQdE=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343554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59423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3966567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https://media.istockphoto.com/id/891698738/photo/mortar-and-degree.jpg?s=612x612&amp;w=0&amp;k=20&amp;c=OBPBQicp4iU7HmCRBEr8SVcAB3iRF79xF0dh5y3L4DY=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4199929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30948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6875" y="4738092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https://ecommercenews.com.au/uploads/story/2023/11/30/img-DoW9ZGAYAHmP8UVXD7iDzmt9.webp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4971454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Plus Jakarta Sans"/>
              </a:rPr>
              <a:t>ecommercenews.com.au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2250</Words>
  <Application>Microsoft Office PowerPoint</Application>
  <PresentationFormat>Widescreen</PresentationFormat>
  <Paragraphs>169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Arial</vt:lpstr>
      <vt:lpstr>Calibri</vt:lpstr>
      <vt:lpstr>Merriweather</vt:lpstr>
      <vt:lpstr>Plus Jakarta Sans</vt:lpstr>
      <vt:lpstr>Plus Jakarta Sans Medium</vt:lpstr>
      <vt:lpstr>Plus Jakarta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Assupero</cp:lastModifiedBy>
  <cp:revision>3</cp:revision>
  <dcterms:created xsi:type="dcterms:W3CDTF">2013-01-27T09:14:16Z</dcterms:created>
  <dcterms:modified xsi:type="dcterms:W3CDTF">2026-08-20T22:01:10Z</dcterms:modified>
  <cp:category/>
</cp:coreProperties>
</file>